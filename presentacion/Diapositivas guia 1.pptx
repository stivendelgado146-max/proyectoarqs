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70" r:id="rId4"/>
    <p:sldId id="272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71" r:id="rId13"/>
    <p:sldId id="273" r:id="rId14"/>
    <p:sldId id="274" r:id="rId15"/>
    <p:sldId id="275" r:id="rId16"/>
    <p:sldId id="276" r:id="rId17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518" y="2341215"/>
            <a:ext cx="3128962" cy="352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75622" y="2931765"/>
            <a:ext cx="6040755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0F172A"/>
                </a:solidFill>
                <a:latin typeface="Poppins"/>
              </a:rPr>
              <a:t>PacificERP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745110"/>
            <a:ext cx="85725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64748B"/>
                </a:solidFill>
                <a:latin typeface="Lato"/>
              </a:rPr>
              <a:t>A Tailored Enterprise Resource Planning &amp; POS System for High-Volume Wholesale and Retail Groceries in San Andrés de Tumaco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65EEDB2-43CB-4862-9464-CC9104BFFC07}"/>
              </a:ext>
            </a:extLst>
          </p:cNvPr>
          <p:cNvSpPr/>
          <p:nvPr/>
        </p:nvSpPr>
        <p:spPr>
          <a:xfrm>
            <a:off x="548640" y="3580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55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081FA9-2881-4BCF-AB2E-447CD1E45406}"/>
              </a:ext>
            </a:extLst>
          </p:cNvPr>
          <p:cNvSpPr/>
          <p:nvPr/>
        </p:nvSpPr>
        <p:spPr>
          <a:xfrm>
            <a:off x="640080" y="1737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69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9E85D45-A0EB-4D4B-8F37-DFAF7C73CFFA}"/>
              </a:ext>
            </a:extLst>
          </p:cNvPr>
          <p:cNvSpPr/>
          <p:nvPr/>
        </p:nvSpPr>
        <p:spPr>
          <a:xfrm>
            <a:off x="1554480" y="1792224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disadvantages of a purpose-built ERP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15F5E30-D844-4E8B-B252-7CA97792BD8C}"/>
              </a:ext>
            </a:extLst>
          </p:cNvPr>
          <p:cNvSpPr/>
          <p:nvPr/>
        </p:nvSpPr>
        <p:spPr>
          <a:xfrm>
            <a:off x="640080" y="26974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69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E68E750-3A5E-4B9B-B5C9-2A5086CD39C4}"/>
              </a:ext>
            </a:extLst>
          </p:cNvPr>
          <p:cNvSpPr/>
          <p:nvPr/>
        </p:nvSpPr>
        <p:spPr>
          <a:xfrm>
            <a:off x="1554480" y="2752344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project definition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AEBACDD-50C0-45C9-BFE2-3EB46223A721}"/>
              </a:ext>
            </a:extLst>
          </p:cNvPr>
          <p:cNvSpPr/>
          <p:nvPr/>
        </p:nvSpPr>
        <p:spPr>
          <a:xfrm>
            <a:off x="640080" y="36576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69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80445CB-9A3C-49CD-B379-5AE73FF57389}"/>
              </a:ext>
            </a:extLst>
          </p:cNvPr>
          <p:cNvSpPr/>
          <p:nvPr/>
        </p:nvSpPr>
        <p:spPr>
          <a:xfrm>
            <a:off x="1554480" y="3712464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430B711-C80E-44C3-8DBA-3C3789871FA0}"/>
              </a:ext>
            </a:extLst>
          </p:cNvPr>
          <p:cNvSpPr/>
          <p:nvPr/>
        </p:nvSpPr>
        <p:spPr>
          <a:xfrm>
            <a:off x="640080" y="46177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69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F24FE8B-8126-40B8-8300-4B8661B08C36}"/>
              </a:ext>
            </a:extLst>
          </p:cNvPr>
          <p:cNvSpPr/>
          <p:nvPr/>
        </p:nvSpPr>
        <p:spPr>
          <a:xfrm>
            <a:off x="1554480" y="4672584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requirements specification</a:t>
            </a:r>
            <a:endParaRPr lang="en-US" sz="2000" dirty="0"/>
          </a:p>
        </p:txBody>
      </p:sp>
      <p:sp>
        <p:nvSpPr>
          <p:cNvPr id="11" name="Text 52">
            <a:extLst>
              <a:ext uri="{FF2B5EF4-FFF2-40B4-BE49-F238E27FC236}">
                <a16:creationId xmlns:a16="http://schemas.microsoft.com/office/drawing/2014/main" id="{716C4289-4843-488D-A567-6C1556B1FF32}"/>
              </a:ext>
            </a:extLst>
          </p:cNvPr>
          <p:cNvSpPr/>
          <p:nvPr/>
        </p:nvSpPr>
        <p:spPr>
          <a:xfrm>
            <a:off x="36576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COSTALITO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65826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>
            <a:extLst>
              <a:ext uri="{FF2B5EF4-FFF2-40B4-BE49-F238E27FC236}">
                <a16:creationId xmlns:a16="http://schemas.microsoft.com/office/drawing/2014/main" id="{AB098C6A-E96B-4889-87F9-8BCEAB2E719A}"/>
              </a:ext>
            </a:extLst>
          </p:cNvPr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55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Problem definition</a:t>
            </a:r>
            <a:endParaRPr lang="en-US" sz="32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BEDD117A-01D7-4C71-BBA0-351CAA1A28F0}"/>
              </a:ext>
            </a:extLst>
          </p:cNvPr>
          <p:cNvSpPr/>
          <p:nvPr/>
        </p:nvSpPr>
        <p:spPr>
          <a:xfrm>
            <a:off x="548640" y="137160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stores and family groceries usually track inventory, sales, suppliers, and informal credit by hand — in notebooks or from memory.</a:t>
            </a:r>
            <a:endParaRPr lang="en-US" sz="170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8B0819DA-B144-4F6D-8258-04B159ABE4ED}"/>
              </a:ext>
            </a:extLst>
          </p:cNvPr>
          <p:cNvSpPr/>
          <p:nvPr/>
        </p:nvSpPr>
        <p:spPr>
          <a:xfrm>
            <a:off x="548640" y="2587752"/>
            <a:ext cx="146304" cy="146304"/>
          </a:xfrm>
          <a:prstGeom prst="ellipse">
            <a:avLst/>
          </a:prstGeom>
          <a:solidFill>
            <a:srgbClr val="D69A2D"/>
          </a:solidFill>
          <a:ln/>
        </p:spPr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7794E9BE-89FD-4428-B783-A187F76EF78B}"/>
              </a:ext>
            </a:extLst>
          </p:cNvPr>
          <p:cNvSpPr/>
          <p:nvPr/>
        </p:nvSpPr>
        <p:spPr>
          <a:xfrm>
            <a:off x="868680" y="25146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losses from not knowing real inventory levels</a:t>
            </a:r>
            <a:endParaRPr lang="en-US" sz="1500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CC3C4782-8223-4691-91D0-003B905060A6}"/>
              </a:ext>
            </a:extLst>
          </p:cNvPr>
          <p:cNvSpPr/>
          <p:nvPr/>
        </p:nvSpPr>
        <p:spPr>
          <a:xfrm>
            <a:off x="548640" y="3154680"/>
            <a:ext cx="146304" cy="146304"/>
          </a:xfrm>
          <a:prstGeom prst="ellipse">
            <a:avLst/>
          </a:prstGeom>
          <a:solidFill>
            <a:srgbClr val="D69A2D"/>
          </a:solidFill>
          <a:ln/>
        </p:spPr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336347DD-9209-4B7A-8317-19DDFA02AC70}"/>
              </a:ext>
            </a:extLst>
          </p:cNvPr>
          <p:cNvSpPr/>
          <p:nvPr/>
        </p:nvSpPr>
        <p:spPr>
          <a:xfrm>
            <a:off x="868680" y="3081528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and accounts-receivable errors</a:t>
            </a:r>
            <a:endParaRPr lang="en-US" sz="150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C9150FA9-12CC-4E92-8D7C-95CE345D2295}"/>
              </a:ext>
            </a:extLst>
          </p:cNvPr>
          <p:cNvSpPr/>
          <p:nvPr/>
        </p:nvSpPr>
        <p:spPr>
          <a:xfrm>
            <a:off x="548640" y="3721608"/>
            <a:ext cx="146304" cy="146304"/>
          </a:xfrm>
          <a:prstGeom prst="ellipse">
            <a:avLst/>
          </a:prstGeom>
          <a:solidFill>
            <a:srgbClr val="D69A2D"/>
          </a:solidFill>
          <a:ln/>
        </p:spPr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78C4288A-E37B-4662-AC4C-96B06320BB74}"/>
              </a:ext>
            </a:extLst>
          </p:cNvPr>
          <p:cNvSpPr/>
          <p:nvPr/>
        </p:nvSpPr>
        <p:spPr>
          <a:xfrm>
            <a:off x="868680" y="364845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 over expiration dates</a:t>
            </a:r>
            <a:endParaRPr lang="en-US" sz="15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FEBA0C7C-1FCD-4ED1-BBBA-355FFCE960E7}"/>
              </a:ext>
            </a:extLst>
          </p:cNvPr>
          <p:cNvSpPr/>
          <p:nvPr/>
        </p:nvSpPr>
        <p:spPr>
          <a:xfrm>
            <a:off x="548640" y="4288536"/>
            <a:ext cx="146304" cy="146304"/>
          </a:xfrm>
          <a:prstGeom prst="ellipse">
            <a:avLst/>
          </a:prstGeom>
          <a:solidFill>
            <a:srgbClr val="D69A2D"/>
          </a:solidFill>
          <a:ln/>
        </p:spPr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747F4769-DB0F-49C9-954E-E207E1E825C9}"/>
              </a:ext>
            </a:extLst>
          </p:cNvPr>
          <p:cNvSpPr/>
          <p:nvPr/>
        </p:nvSpPr>
        <p:spPr>
          <a:xfrm>
            <a:off x="868680" y="4215384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historical data to guide restocking decisions</a:t>
            </a:r>
            <a:endParaRPr lang="en-US" sz="150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66B2611B-B027-4868-9446-7E187752EAF5}"/>
              </a:ext>
            </a:extLst>
          </p:cNvPr>
          <p:cNvSpPr/>
          <p:nvPr/>
        </p:nvSpPr>
        <p:spPr>
          <a:xfrm>
            <a:off x="7406640" y="1371600"/>
            <a:ext cx="4206240" cy="4572000"/>
          </a:xfrm>
          <a:prstGeom prst="roundRect">
            <a:avLst>
              <a:gd name="adj" fmla="val 2609"/>
            </a:avLst>
          </a:prstGeom>
          <a:solidFill>
            <a:srgbClr val="F4ECD8"/>
          </a:solidFill>
          <a:ln/>
        </p:spPr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7F39DBD9-2F7D-4D05-BE01-CE55420ADDC8}"/>
              </a:ext>
            </a:extLst>
          </p:cNvPr>
          <p:cNvSpPr/>
          <p:nvPr/>
        </p:nvSpPr>
        <p:spPr>
          <a:xfrm>
            <a:off x="7772400" y="17373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5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specific case: Tumaco</a:t>
            </a:r>
            <a:endParaRPr lang="en-US" sz="160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CB8B6E1F-D743-45F1-BA56-47883B7DF744}"/>
              </a:ext>
            </a:extLst>
          </p:cNvPr>
          <p:cNvSpPr/>
          <p:nvPr/>
        </p:nvSpPr>
        <p:spPr>
          <a:xfrm>
            <a:off x="7772400" y="228600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family granero we studied in Tumaco, Nariño, currently relies only on a physical notebook. This creates uncertainty about real stock levels, loss of control over credit given to regular customers, and no sales history to plan restocking.</a:t>
            </a:r>
            <a:endParaRPr lang="en-US" sz="1350" dirty="0"/>
          </a:p>
        </p:txBody>
      </p:sp>
      <p:sp>
        <p:nvSpPr>
          <p:cNvPr id="24" name="Text 52">
            <a:extLst>
              <a:ext uri="{FF2B5EF4-FFF2-40B4-BE49-F238E27FC236}">
                <a16:creationId xmlns:a16="http://schemas.microsoft.com/office/drawing/2014/main" id="{0C26A686-AF2E-46A1-B170-90A1933D53C8}"/>
              </a:ext>
            </a:extLst>
          </p:cNvPr>
          <p:cNvSpPr/>
          <p:nvPr/>
        </p:nvSpPr>
        <p:spPr>
          <a:xfrm>
            <a:off x="36576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COSTALITO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57497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10788B7-1EB6-42F2-AAEC-E049977DD8D2}"/>
              </a:ext>
            </a:extLst>
          </p:cNvPr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55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Justification, users &amp; return on investment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CDA70B-EA8D-4993-A8A1-3E98762DE439}"/>
              </a:ext>
            </a:extLst>
          </p:cNvPr>
          <p:cNvSpPr/>
          <p:nvPr/>
        </p:nvSpPr>
        <p:spPr>
          <a:xfrm>
            <a:off x="548640" y="11887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B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Justification</a:t>
            </a:r>
            <a:endParaRPr lang="en-US" sz="1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DF9B5C2-C944-4CAA-BDEE-3E88DB909CA8}"/>
              </a:ext>
            </a:extLst>
          </p:cNvPr>
          <p:cNvSpPr/>
          <p:nvPr/>
        </p:nvSpPr>
        <p:spPr>
          <a:xfrm>
            <a:off x="548640" y="160020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Costalito serves a segment historically overlooked by traditional ERP platforms, reduces losses from poor inventory and credit control, and brings real data where the owner previously relied only on memory.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1D19534-8B7C-419F-BD6D-D6C3BACC2BA8}"/>
              </a:ext>
            </a:extLst>
          </p:cNvPr>
          <p:cNvSpPr/>
          <p:nvPr/>
        </p:nvSpPr>
        <p:spPr>
          <a:xfrm>
            <a:off x="548640" y="29718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B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users</a:t>
            </a:r>
            <a:endParaRPr lang="en-US" sz="17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9917E62-ECBE-4562-B681-D882961D9366}"/>
              </a:ext>
            </a:extLst>
          </p:cNvPr>
          <p:cNvSpPr/>
          <p:nvPr/>
        </p:nvSpPr>
        <p:spPr>
          <a:xfrm>
            <a:off x="548640" y="3447288"/>
            <a:ext cx="128016" cy="128016"/>
          </a:xfrm>
          <a:prstGeom prst="ellipse">
            <a:avLst/>
          </a:prstGeom>
          <a:solidFill>
            <a:srgbClr val="D69A2D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5B8824A-A039-4CF2-8866-CB3E4B393B57}"/>
              </a:ext>
            </a:extLst>
          </p:cNvPr>
          <p:cNvSpPr/>
          <p:nvPr/>
        </p:nvSpPr>
        <p:spPr>
          <a:xfrm>
            <a:off x="868680" y="33832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owner — manages inventory, sales, suppliers and finances</a:t>
            </a: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18FB5AA-CDB4-48F0-A93D-8A6A3C426DDA}"/>
              </a:ext>
            </a:extLst>
          </p:cNvPr>
          <p:cNvSpPr/>
          <p:nvPr/>
        </p:nvSpPr>
        <p:spPr>
          <a:xfrm>
            <a:off x="548640" y="4069080"/>
            <a:ext cx="128016" cy="128016"/>
          </a:xfrm>
          <a:prstGeom prst="ellipse">
            <a:avLst/>
          </a:prstGeom>
          <a:solidFill>
            <a:srgbClr val="D69A2D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AD6E979-AFE3-45AD-BF4D-7C6C00E4258F}"/>
              </a:ext>
            </a:extLst>
          </p:cNvPr>
          <p:cNvSpPr/>
          <p:nvPr/>
        </p:nvSpPr>
        <p:spPr>
          <a:xfrm>
            <a:off x="868680" y="400507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members who take turns attending the store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EA0501B-4655-45E7-95BE-BF7B8A65C5D9}"/>
              </a:ext>
            </a:extLst>
          </p:cNvPr>
          <p:cNvSpPr/>
          <p:nvPr/>
        </p:nvSpPr>
        <p:spPr>
          <a:xfrm>
            <a:off x="6309360" y="1188720"/>
            <a:ext cx="5303520" cy="4754880"/>
          </a:xfrm>
          <a:prstGeom prst="roundRect">
            <a:avLst>
              <a:gd name="adj" fmla="val 2308"/>
            </a:avLst>
          </a:prstGeom>
          <a:solidFill>
            <a:srgbClr val="F4ECD8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F06BACF-1423-46C3-988C-206172FA6852}"/>
              </a:ext>
            </a:extLst>
          </p:cNvPr>
          <p:cNvSpPr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5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 on investment</a:t>
            </a:r>
            <a:endParaRPr lang="en-US" sz="18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B22DAB4-4C66-44E4-8BBB-B77C1D4841C8}"/>
              </a:ext>
            </a:extLst>
          </p:cNvPr>
          <p:cNvSpPr/>
          <p:nvPr/>
        </p:nvSpPr>
        <p:spPr>
          <a:xfrm>
            <a:off x="6675120" y="2212848"/>
            <a:ext cx="128016" cy="128016"/>
          </a:xfrm>
          <a:prstGeom prst="ellipse">
            <a:avLst/>
          </a:prstGeom>
          <a:solidFill>
            <a:srgbClr val="B5541F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4B55F09-BD25-4F6A-A968-CBFCFFF7AC9D}"/>
              </a:ext>
            </a:extLst>
          </p:cNvPr>
          <p:cNvSpPr/>
          <p:nvPr/>
        </p:nvSpPr>
        <p:spPr>
          <a:xfrm>
            <a:off x="6995160" y="214884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 from not reconciling accounts by hand</a:t>
            </a:r>
            <a:endParaRPr lang="en-US" sz="13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846C889-A1BD-412D-B3D2-DF89552BD77D}"/>
              </a:ext>
            </a:extLst>
          </p:cNvPr>
          <p:cNvSpPr/>
          <p:nvPr/>
        </p:nvSpPr>
        <p:spPr>
          <a:xfrm>
            <a:off x="6675120" y="3035808"/>
            <a:ext cx="128016" cy="128016"/>
          </a:xfrm>
          <a:prstGeom prst="ellipse">
            <a:avLst/>
          </a:prstGeom>
          <a:solidFill>
            <a:srgbClr val="B5541F"/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A44B3FD-715B-4092-8621-AAF01E3962B9}"/>
              </a:ext>
            </a:extLst>
          </p:cNvPr>
          <p:cNvSpPr/>
          <p:nvPr/>
        </p:nvSpPr>
        <p:spPr>
          <a:xfrm>
            <a:off x="6995160" y="297180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losses from forgotten “fiado” balances</a:t>
            </a:r>
            <a:endParaRPr lang="en-US" sz="13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9947BF2-413D-40EE-A056-5FAECB78277A}"/>
              </a:ext>
            </a:extLst>
          </p:cNvPr>
          <p:cNvSpPr/>
          <p:nvPr/>
        </p:nvSpPr>
        <p:spPr>
          <a:xfrm>
            <a:off x="6675120" y="3858768"/>
            <a:ext cx="128016" cy="128016"/>
          </a:xfrm>
          <a:prstGeom prst="ellipse">
            <a:avLst/>
          </a:prstGeom>
          <a:solidFill>
            <a:srgbClr val="B5541F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E8791E5-427D-4342-A80A-DFC76DBC8C04}"/>
              </a:ext>
            </a:extLst>
          </p:cNvPr>
          <p:cNvSpPr/>
          <p:nvPr/>
        </p:nvSpPr>
        <p:spPr>
          <a:xfrm>
            <a:off x="6995160" y="379476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losses from expired or misplaced products</a:t>
            </a:r>
            <a:endParaRPr lang="en-US" sz="13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CD4C67A-2B2F-4EAA-9667-5BB2A122F791}"/>
              </a:ext>
            </a:extLst>
          </p:cNvPr>
          <p:cNvSpPr/>
          <p:nvPr/>
        </p:nvSpPr>
        <p:spPr>
          <a:xfrm>
            <a:off x="6675120" y="4681728"/>
            <a:ext cx="128016" cy="128016"/>
          </a:xfrm>
          <a:prstGeom prst="ellipse">
            <a:avLst/>
          </a:prstGeom>
          <a:solidFill>
            <a:srgbClr val="B5541F"/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964B143-16E3-44FD-8031-41805F7192A9}"/>
              </a:ext>
            </a:extLst>
          </p:cNvPr>
          <p:cNvSpPr/>
          <p:nvPr/>
        </p:nvSpPr>
        <p:spPr>
          <a:xfrm>
            <a:off x="6995160" y="461772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visibility into inventory and the credit portfolio</a:t>
            </a:r>
            <a:endParaRPr lang="en-US" sz="1350" dirty="0"/>
          </a:p>
        </p:txBody>
      </p:sp>
      <p:sp>
        <p:nvSpPr>
          <p:cNvPr id="20" name="Text 52">
            <a:extLst>
              <a:ext uri="{FF2B5EF4-FFF2-40B4-BE49-F238E27FC236}">
                <a16:creationId xmlns:a16="http://schemas.microsoft.com/office/drawing/2014/main" id="{BD2923EC-5869-4182-98DF-3119F783FD50}"/>
              </a:ext>
            </a:extLst>
          </p:cNvPr>
          <p:cNvSpPr/>
          <p:nvPr/>
        </p:nvSpPr>
        <p:spPr>
          <a:xfrm>
            <a:off x="36576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COSTALITO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4877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38375"/>
            <a:ext cx="3524250" cy="3190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238375"/>
            <a:ext cx="3524250" cy="3190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238375"/>
            <a:ext cx="3524250" cy="3190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533650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257550"/>
            <a:ext cx="308038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oppins SemiBold"/>
              </a:rPr>
              <a:t>Informal Credit Leaks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705225"/>
            <a:ext cx="29337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Informal customer credit ("fiado") tracked in physical paper notebooks causes revenue loss, unrecorded charges, and billing disputes with local families and boat operators.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9150" y="2533650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9150" y="3257550"/>
            <a:ext cx="308038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oppins SemiBold"/>
              </a:rPr>
              <a:t>Climate &amp; Spoilage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9150" y="3705225"/>
            <a:ext cx="29337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Extreme humidity (&gt;85%) and temperature spoil bulk grain and flour sacks if stock rotation (FEFO) is not strictly maintained before humidity damage occurs.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1525" y="2533650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1525" y="3257550"/>
            <a:ext cx="308038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oppins SemiBold"/>
              </a:rPr>
              <a:t>Supply Chain Volatility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705225"/>
            <a:ext cx="29337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Landslides on the Pasto-Tumaco highway create unpredictable freight costs, making manual margin calculations and bulk sales pricing highly error-prone.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412" y="2667000"/>
            <a:ext cx="238125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3450" y="2667000"/>
            <a:ext cx="3048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1537" y="2667000"/>
            <a:ext cx="333375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oppins SemiBold"/>
              </a:rPr>
              <a:t>Key Operational Pain Points</a:t>
            </a:r>
          </a:p>
        </p:txBody>
      </p:sp>
      <p:sp>
        <p:nvSpPr>
          <p:cNvPr id="19" name="Text 52">
            <a:extLst>
              <a:ext uri="{FF2B5EF4-FFF2-40B4-BE49-F238E27FC236}">
                <a16:creationId xmlns:a16="http://schemas.microsoft.com/office/drawing/2014/main" id="{4A2FDC28-2853-47DD-844F-774043AB3BD8}"/>
              </a:ext>
            </a:extLst>
          </p:cNvPr>
          <p:cNvSpPr/>
          <p:nvPr/>
        </p:nvSpPr>
        <p:spPr>
          <a:xfrm>
            <a:off x="36576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COSTALITO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550693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oppins SemiBold"/>
              </a:rPr>
              <a:t>System Architecture Overview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285875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oppins SemiBold"/>
              </a:rPr>
              <a:t>Engineering Resilience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733550"/>
            <a:ext cx="52863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PacificERP is designed with an offline-first modular architecture, ensuring continuous operation during electrical or internet outages in coastal river ports.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647950"/>
            <a:ext cx="52863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By coupling localized transaction storage with automatic background cloud synchronization, store owners achieve 100% uptime, fast checkout speeds, and multi-tier price protection.</a:t>
            </a:r>
          </a:p>
        </p:txBody>
      </p:sp>
      <p:sp>
        <p:nvSpPr>
          <p:cNvPr id="8" name="Text 52">
            <a:extLst>
              <a:ext uri="{FF2B5EF4-FFF2-40B4-BE49-F238E27FC236}">
                <a16:creationId xmlns:a16="http://schemas.microsoft.com/office/drawing/2014/main" id="{5A17833E-E327-4513-9D2D-00B941E09525}"/>
              </a:ext>
            </a:extLst>
          </p:cNvPr>
          <p:cNvSpPr/>
          <p:nvPr/>
        </p:nvSpPr>
        <p:spPr>
          <a:xfrm>
            <a:off x="36576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COSTALITO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09875"/>
            <a:ext cx="5334000" cy="2047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09875"/>
            <a:ext cx="5334000" cy="2047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52775"/>
            <a:ext cx="488061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D9488"/>
                </a:solidFill>
                <a:latin typeface="Poppins SemiBold"/>
              </a:rPr>
              <a:t>Dual Unit-of-Measure (UoM)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00450"/>
            <a:ext cx="46482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Seamlessly accepts inventory in bulk sacks (e.g., 50kg Rice Sacks) and dynamically deducts stock whether sold as full wholesale sacks or retail pounds/kilos at the counter.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52775"/>
            <a:ext cx="488061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D9488"/>
                </a:solidFill>
                <a:latin typeface="Poppins SemiBold"/>
              </a:rPr>
              <a:t>FEFO Stock &amp; Aging Alerts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600450"/>
            <a:ext cx="46482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Automated alerts notify staff when dry grains or flour approach humidity risk thresholds, prioritizing stock dispatch to prevent spoilage and eliminate unrecorded shrink.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oppins SemiBold"/>
              </a:rPr>
              <a:t>Module 1: Dual-UoM &amp; Warehouse Control</a:t>
            </a:r>
          </a:p>
        </p:txBody>
      </p:sp>
      <p:sp>
        <p:nvSpPr>
          <p:cNvPr id="10" name="Text 52">
            <a:extLst>
              <a:ext uri="{FF2B5EF4-FFF2-40B4-BE49-F238E27FC236}">
                <a16:creationId xmlns:a16="http://schemas.microsoft.com/office/drawing/2014/main" id="{A1A277DB-0E3F-4956-9C02-8749A3BB94F5}"/>
              </a:ext>
            </a:extLst>
          </p:cNvPr>
          <p:cNvSpPr/>
          <p:nvPr/>
        </p:nvSpPr>
        <p:spPr>
          <a:xfrm>
            <a:off x="36576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COSTALITO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24062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2024062"/>
            <a:ext cx="5067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Touch POS Interface: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Ultra-fast barcode scanning and touch lookup optimized for peak retail traffic.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690812"/>
            <a:ext cx="5067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Digital Credit Ledger ("Fiado"):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Assigns credit limits per customer, logs cash advances, and issues digital or thermal receipts.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357562"/>
            <a:ext cx="5067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Automated Price Tiering: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Auto-switches pricing rules between urban retail buyers and fluvial wholesale boat operators.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024312"/>
            <a:ext cx="5067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Dispute Elimination: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Historical ledger tracking prevents billing conflicts with regular patrons and riverfront merchants.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24062"/>
            <a:ext cx="5334000" cy="3619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oppins SemiBold"/>
              </a:rPr>
              <a:t>Module 2: Smart POS &amp; Digital Credit Ledger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43112"/>
            <a:ext cx="15240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09862"/>
            <a:ext cx="1524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76612"/>
            <a:ext cx="15240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43362"/>
            <a:ext cx="152400" cy="180975"/>
          </a:xfrm>
          <a:prstGeom prst="rect">
            <a:avLst/>
          </a:prstGeom>
        </p:spPr>
      </p:pic>
      <p:sp>
        <p:nvSpPr>
          <p:cNvPr id="14" name="Text 52">
            <a:extLst>
              <a:ext uri="{FF2B5EF4-FFF2-40B4-BE49-F238E27FC236}">
                <a16:creationId xmlns:a16="http://schemas.microsoft.com/office/drawing/2014/main" id="{C3240BC5-ED5C-4053-B142-BCE75A24A72D}"/>
              </a:ext>
            </a:extLst>
          </p:cNvPr>
          <p:cNvSpPr/>
          <p:nvPr/>
        </p:nvSpPr>
        <p:spPr>
          <a:xfrm>
            <a:off x="36576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COSTALITO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66962"/>
            <a:ext cx="3524250" cy="2933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366962"/>
            <a:ext cx="3524250" cy="2933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366962"/>
            <a:ext cx="3524250" cy="2933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662237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386137"/>
            <a:ext cx="308038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oppins SemiBold"/>
              </a:rPr>
              <a:t>Dynamic Freight Costing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833812"/>
            <a:ext cx="29337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Weighted average cost engine factors in freight fluctuations along the Pasto-Tumaco route to suggest profitable retail and wholesale sale prices.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9150" y="2662237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9150" y="3386137"/>
            <a:ext cx="308038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oppins SemiBold"/>
              </a:rPr>
              <a:t>Accounts Payable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9150" y="3833812"/>
            <a:ext cx="29337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Automated payment schedules for regional distributors prevent supply blackouts and avoid costly default penalties.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1525" y="2662237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1525" y="3386137"/>
            <a:ext cx="308038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oppins SemiBold"/>
              </a:rPr>
              <a:t>Workforce &amp; Shifts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833812"/>
            <a:ext cx="29337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Tracks shift attendance, wage advances, and daily payouts for loading dock operators with strict Role-Based Access Control (RBAC).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462" y="2795587"/>
            <a:ext cx="200025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5837" y="2795587"/>
            <a:ext cx="200025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1537" y="2795587"/>
            <a:ext cx="333375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oppins SemiBold"/>
              </a:rPr>
              <a:t>Modules 3 &amp; 4: Costing &amp; Workforce</a:t>
            </a:r>
          </a:p>
        </p:txBody>
      </p:sp>
      <p:sp>
        <p:nvSpPr>
          <p:cNvPr id="19" name="Text 52">
            <a:extLst>
              <a:ext uri="{FF2B5EF4-FFF2-40B4-BE49-F238E27FC236}">
                <a16:creationId xmlns:a16="http://schemas.microsoft.com/office/drawing/2014/main" id="{B6E7BA54-A13A-4C8F-9FE9-FB3CEE81C1E8}"/>
              </a:ext>
            </a:extLst>
          </p:cNvPr>
          <p:cNvSpPr/>
          <p:nvPr/>
        </p:nvSpPr>
        <p:spPr>
          <a:xfrm>
            <a:off x="36576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COSTALITO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10112"/>
            <a:ext cx="11049000" cy="647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85875"/>
            <a:ext cx="11049000" cy="5095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oppins SemiBold"/>
              </a:rPr>
              <a:t>Module 5: Real-Time Profitability Analytics</a:t>
            </a:r>
          </a:p>
        </p:txBody>
      </p:sp>
      <p:sp>
        <p:nvSpPr>
          <p:cNvPr id="6" name="Text 52">
            <a:extLst>
              <a:ext uri="{FF2B5EF4-FFF2-40B4-BE49-F238E27FC236}">
                <a16:creationId xmlns:a16="http://schemas.microsoft.com/office/drawing/2014/main" id="{A4A437CD-F95C-45EA-980B-6B1DE0953219}"/>
              </a:ext>
            </a:extLst>
          </p:cNvPr>
          <p:cNvSpPr/>
          <p:nvPr/>
        </p:nvSpPr>
        <p:spPr>
          <a:xfrm>
            <a:off x="36576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COSTALITO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1957387"/>
            <a:ext cx="11049000" cy="914400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90625" y="2147887"/>
            <a:ext cx="1023937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Offline-First Architecture: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Uses local PWA / IndexedDB datastores with CRDT sync protocols to survive coastal connectivity outages seamlessly.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3024187"/>
            <a:ext cx="11049000" cy="657225"/>
          </a:xfrm>
          <a:prstGeom prst="roundRect">
            <a:avLst>
              <a:gd name="adj" fmla="val 144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90625" y="3214687"/>
            <a:ext cx="102393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Thermal &amp; Mobile Bluetooth Printing: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Generates instantaneous hard-copy transaction slips for counter purchases and credit vouchers.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3833812"/>
            <a:ext cx="11049000" cy="657225"/>
          </a:xfrm>
          <a:prstGeom prst="roundRect">
            <a:avLst>
              <a:gd name="adj" fmla="val 144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90625" y="4024312"/>
            <a:ext cx="102393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Granular Security &amp; RBAC: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Encrypts net profit metrics and cost structures, restricting sensitive reports exclusively to business owners.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4643437"/>
            <a:ext cx="11049000" cy="914400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90625" y="4833937"/>
            <a:ext cx="1023937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Low-Bandwidth Optimization: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Optimized payload compression operates smoothly over weak 3G cellular signals during network degradation.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286226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36718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48151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554831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2219325"/>
            <a:ext cx="238125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3157537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3967162"/>
            <a:ext cx="19050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4905375"/>
            <a:ext cx="171450" cy="2000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oppins SemiBold"/>
              </a:rPr>
              <a:t>Engineering Stack Highlights</a:t>
            </a:r>
          </a:p>
        </p:txBody>
      </p:sp>
      <p:sp>
        <p:nvSpPr>
          <p:cNvPr id="20" name="Text 52">
            <a:extLst>
              <a:ext uri="{FF2B5EF4-FFF2-40B4-BE49-F238E27FC236}">
                <a16:creationId xmlns:a16="http://schemas.microsoft.com/office/drawing/2014/main" id="{B3F397C1-45FC-43E1-BB50-8F8EF7640B56}"/>
              </a:ext>
            </a:extLst>
          </p:cNvPr>
          <p:cNvSpPr/>
          <p:nvPr/>
        </p:nvSpPr>
        <p:spPr>
          <a:xfrm>
            <a:off x="36576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COSTALITO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31D38C6-9BE9-4115-93DE-34C862361398}"/>
              </a:ext>
            </a:extLst>
          </p:cNvPr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55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Proposed solution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F13E81-3C67-47CE-A9A1-3E7010926D46}"/>
              </a:ext>
            </a:extLst>
          </p:cNvPr>
          <p:cNvSpPr/>
          <p:nvPr/>
        </p:nvSpPr>
        <p:spPr>
          <a:xfrm>
            <a:off x="548640" y="960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web application built around five modules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19B01E6-8DBC-4BA5-9F59-C2D25BF0CD9B}"/>
              </a:ext>
            </a:extLst>
          </p:cNvPr>
          <p:cNvSpPr/>
          <p:nvPr/>
        </p:nvSpPr>
        <p:spPr>
          <a:xfrm>
            <a:off x="548640" y="1828800"/>
            <a:ext cx="2103120" cy="33832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B5541F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11F897A-ECA0-4E23-8F75-3209C65C1D11}"/>
              </a:ext>
            </a:extLst>
          </p:cNvPr>
          <p:cNvSpPr/>
          <p:nvPr/>
        </p:nvSpPr>
        <p:spPr>
          <a:xfrm>
            <a:off x="868680" y="214884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B5541F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7302BFA-5F7F-4F11-9A50-005DA962F8AC}"/>
              </a:ext>
            </a:extLst>
          </p:cNvPr>
          <p:cNvSpPr/>
          <p:nvPr/>
        </p:nvSpPr>
        <p:spPr>
          <a:xfrm>
            <a:off x="685800" y="2148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D7A43C6-72F4-4D7C-9D21-0ADF82420EF1}"/>
              </a:ext>
            </a:extLst>
          </p:cNvPr>
          <p:cNvSpPr/>
          <p:nvPr/>
        </p:nvSpPr>
        <p:spPr>
          <a:xfrm>
            <a:off x="731520" y="288036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levels, low-stock alerts, expiration tracking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EABB6CC-262D-49F6-ADCE-C78FF28EFB77}"/>
              </a:ext>
            </a:extLst>
          </p:cNvPr>
          <p:cNvSpPr/>
          <p:nvPr/>
        </p:nvSpPr>
        <p:spPr>
          <a:xfrm>
            <a:off x="2816352" y="1828800"/>
            <a:ext cx="2103120" cy="33832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D69A2D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C7F1964-A9DF-4762-85C0-444CAA7A7733}"/>
              </a:ext>
            </a:extLst>
          </p:cNvPr>
          <p:cNvSpPr/>
          <p:nvPr/>
        </p:nvSpPr>
        <p:spPr>
          <a:xfrm>
            <a:off x="3136392" y="214884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D69A2D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52CAC07-E687-4B83-B1D6-D6D6F9CE829C}"/>
              </a:ext>
            </a:extLst>
          </p:cNvPr>
          <p:cNvSpPr/>
          <p:nvPr/>
        </p:nvSpPr>
        <p:spPr>
          <a:xfrm>
            <a:off x="2953512" y="2148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billing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6FA54E2-C575-4E6F-B48D-F38291D91EFD}"/>
              </a:ext>
            </a:extLst>
          </p:cNvPr>
          <p:cNvSpPr/>
          <p:nvPr/>
        </p:nvSpPr>
        <p:spPr>
          <a:xfrm>
            <a:off x="2999232" y="288036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checkout, digital receipts, sales history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9D2ED2D-A823-4CF1-B59A-0B7DD2F7B54C}"/>
              </a:ext>
            </a:extLst>
          </p:cNvPr>
          <p:cNvSpPr/>
          <p:nvPr/>
        </p:nvSpPr>
        <p:spPr>
          <a:xfrm>
            <a:off x="5084064" y="1828800"/>
            <a:ext cx="2103120" cy="33832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6B7A3A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92EDA64-EB1E-4E5F-BFC8-57EA53FDF515}"/>
              </a:ext>
            </a:extLst>
          </p:cNvPr>
          <p:cNvSpPr/>
          <p:nvPr/>
        </p:nvSpPr>
        <p:spPr>
          <a:xfrm>
            <a:off x="5404104" y="214884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6B7A3A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0AE8013-5F05-440C-899C-C4C159891535}"/>
              </a:ext>
            </a:extLst>
          </p:cNvPr>
          <p:cNvSpPr/>
          <p:nvPr/>
        </p:nvSpPr>
        <p:spPr>
          <a:xfrm>
            <a:off x="5221224" y="2148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088AEB6-5C36-4180-B081-B942526DAD1C}"/>
              </a:ext>
            </a:extLst>
          </p:cNvPr>
          <p:cNvSpPr/>
          <p:nvPr/>
        </p:nvSpPr>
        <p:spPr>
          <a:xfrm>
            <a:off x="5266944" y="288036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Purchases, orders, purchase history</a:t>
            </a:r>
            <a:endParaRPr lang="en-US" sz="1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E8D36F4-DE53-4965-8B59-00AC873EDDD3}"/>
              </a:ext>
            </a:extLst>
          </p:cNvPr>
          <p:cNvSpPr/>
          <p:nvPr/>
        </p:nvSpPr>
        <p:spPr>
          <a:xfrm>
            <a:off x="7351776" y="1828800"/>
            <a:ext cx="2103120" cy="33832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B5541F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9828E42-417E-4155-BDDE-5835215E6618}"/>
              </a:ext>
            </a:extLst>
          </p:cNvPr>
          <p:cNvSpPr/>
          <p:nvPr/>
        </p:nvSpPr>
        <p:spPr>
          <a:xfrm>
            <a:off x="7671816" y="214884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B5541F"/>
          </a:solidFill>
          <a:ln/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3F934E4-8905-4F77-9C01-B92796BF27ED}"/>
              </a:ext>
            </a:extLst>
          </p:cNvPr>
          <p:cNvSpPr/>
          <p:nvPr/>
        </p:nvSpPr>
        <p:spPr>
          <a:xfrm>
            <a:off x="7488936" y="2148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&amp; credit</a:t>
            </a:r>
            <a:endParaRPr lang="en-US" sz="13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94B7CBC-5476-4306-89D4-F8DCF9BD1BF2}"/>
              </a:ext>
            </a:extLst>
          </p:cNvPr>
          <p:cNvSpPr/>
          <p:nvPr/>
        </p:nvSpPr>
        <p:spPr>
          <a:xfrm>
            <a:off x="7534656" y="288036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“Fiado” balances, payments, reminders</a:t>
            </a:r>
            <a:endParaRPr lang="en-US" sz="12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AB7420B-F2C6-4E34-A7AD-83D3CBC2F58A}"/>
              </a:ext>
            </a:extLst>
          </p:cNvPr>
          <p:cNvSpPr/>
          <p:nvPr/>
        </p:nvSpPr>
        <p:spPr>
          <a:xfrm>
            <a:off x="9619488" y="1828800"/>
            <a:ext cx="2103120" cy="33832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D69A2D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BCDD1B2-9CF0-4751-BAD4-E536110425EA}"/>
              </a:ext>
            </a:extLst>
          </p:cNvPr>
          <p:cNvSpPr/>
          <p:nvPr/>
        </p:nvSpPr>
        <p:spPr>
          <a:xfrm>
            <a:off x="9939528" y="214884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D69A2D"/>
          </a:solidFill>
          <a:ln/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D28D52B-9D82-4B58-9C85-CEEE1A59D2BA}"/>
              </a:ext>
            </a:extLst>
          </p:cNvPr>
          <p:cNvSpPr/>
          <p:nvPr/>
        </p:nvSpPr>
        <p:spPr>
          <a:xfrm>
            <a:off x="9756648" y="2148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4D583ED-6216-4419-A293-33E06E504D4F}"/>
              </a:ext>
            </a:extLst>
          </p:cNvPr>
          <p:cNvSpPr/>
          <p:nvPr/>
        </p:nvSpPr>
        <p:spPr>
          <a:xfrm>
            <a:off x="9802368" y="288036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sellers, cash flow, outstanding credit</a:t>
            </a:r>
            <a:endParaRPr lang="en-US" sz="1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869CAF2-8510-40B2-B27F-704D7687C7A6}"/>
              </a:ext>
            </a:extLst>
          </p:cNvPr>
          <p:cNvSpPr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so any family member can operate it — no external, technically trained staff required.</a:t>
            </a:r>
            <a:endParaRPr lang="en-US" sz="1400" dirty="0"/>
          </a:p>
        </p:txBody>
      </p:sp>
      <p:sp>
        <p:nvSpPr>
          <p:cNvPr id="25" name="Text 52">
            <a:extLst>
              <a:ext uri="{FF2B5EF4-FFF2-40B4-BE49-F238E27FC236}">
                <a16:creationId xmlns:a16="http://schemas.microsoft.com/office/drawing/2014/main" id="{C1E44297-0870-47D1-93E4-D7FBC7153598}"/>
              </a:ext>
            </a:extLst>
          </p:cNvPr>
          <p:cNvSpPr/>
          <p:nvPr/>
        </p:nvSpPr>
        <p:spPr>
          <a:xfrm>
            <a:off x="36576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COSTALITO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87482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2F118E1-E8FD-4C8F-8AF2-B691F36546DE}"/>
              </a:ext>
            </a:extLst>
          </p:cNvPr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55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Benchmark: existing solutions</a:t>
            </a:r>
            <a:endParaRPr lang="en-US" sz="2800" dirty="0"/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223B1F85-AFF2-44BD-AC7D-0DCD5C95F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496343"/>
              </p:ext>
            </p:extLst>
          </p:nvPr>
        </p:nvGraphicFramePr>
        <p:xfrm>
          <a:off x="548640" y="1234440"/>
          <a:ext cx="11064240" cy="35661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54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54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54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54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54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(“fiado”)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5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2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Siigo Nube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2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~$45,000 COP/mo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2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2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2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2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2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Alegra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2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~$25,000 COP/mo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2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2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2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2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2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Loyverse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2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+ paid add-ons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2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2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2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2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55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Costalito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2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(academic)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2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2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2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B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B308F22C-2CA0-40C5-BCAC-34CB6695AFB8}"/>
              </a:ext>
            </a:extLst>
          </p:cNvPr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Costalito’s differentiator: none of the reviewed applications explicitly support informal customer credit.</a:t>
            </a:r>
            <a:endParaRPr lang="en-US" sz="1400" dirty="0"/>
          </a:p>
        </p:txBody>
      </p:sp>
      <p:sp>
        <p:nvSpPr>
          <p:cNvPr id="5" name="Text 52">
            <a:extLst>
              <a:ext uri="{FF2B5EF4-FFF2-40B4-BE49-F238E27FC236}">
                <a16:creationId xmlns:a16="http://schemas.microsoft.com/office/drawing/2014/main" id="{CC943EA0-A694-401F-85AD-0317774D005E}"/>
              </a:ext>
            </a:extLst>
          </p:cNvPr>
          <p:cNvSpPr/>
          <p:nvPr/>
        </p:nvSpPr>
        <p:spPr>
          <a:xfrm>
            <a:off x="36576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COSTALITO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01811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AED0F4-CBAC-4FE0-AAFF-F2664F21F710}"/>
              </a:ext>
            </a:extLst>
          </p:cNvPr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55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Functional requirements overview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A414DE-CE73-408C-ABC6-D2DED7C29FE9}"/>
              </a:ext>
            </a:extLst>
          </p:cNvPr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decomposition tree (up to 4 levels) is available in the project documentation.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4155FCD-03A7-4F78-991C-4CD612088461}"/>
              </a:ext>
            </a:extLst>
          </p:cNvPr>
          <p:cNvSpPr/>
          <p:nvPr/>
        </p:nvSpPr>
        <p:spPr>
          <a:xfrm>
            <a:off x="548640" y="1554480"/>
            <a:ext cx="210312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6510">
            <a:solidFill>
              <a:srgbClr val="B5541F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8CF8C9F-5974-4391-9CC4-93490A8E6985}"/>
              </a:ext>
            </a:extLst>
          </p:cNvPr>
          <p:cNvSpPr/>
          <p:nvPr/>
        </p:nvSpPr>
        <p:spPr>
          <a:xfrm>
            <a:off x="548640" y="15544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B5541F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FDBFA81-D383-41D9-9D88-BDDEA19DB2C4}"/>
              </a:ext>
            </a:extLst>
          </p:cNvPr>
          <p:cNvSpPr/>
          <p:nvPr/>
        </p:nvSpPr>
        <p:spPr>
          <a:xfrm>
            <a:off x="548640" y="1810512"/>
            <a:ext cx="2103120" cy="246888"/>
          </a:xfrm>
          <a:prstGeom prst="rect">
            <a:avLst/>
          </a:prstGeom>
          <a:solidFill>
            <a:srgbClr val="B5541F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D8FBEBE-8745-4E1B-A1F1-AC27934B56B2}"/>
              </a:ext>
            </a:extLst>
          </p:cNvPr>
          <p:cNvSpPr/>
          <p:nvPr/>
        </p:nvSpPr>
        <p:spPr>
          <a:xfrm>
            <a:off x="658368" y="155448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Inventory</a:t>
            </a:r>
            <a:endParaRPr lang="en-US" sz="11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03F944C-5167-4FC1-858B-658A7FF60A60}"/>
              </a:ext>
            </a:extLst>
          </p:cNvPr>
          <p:cNvSpPr/>
          <p:nvPr/>
        </p:nvSpPr>
        <p:spPr>
          <a:xfrm>
            <a:off x="713232" y="2340864"/>
            <a:ext cx="82296" cy="82296"/>
          </a:xfrm>
          <a:prstGeom prst="ellipse">
            <a:avLst/>
          </a:prstGeom>
          <a:solidFill>
            <a:srgbClr val="B5541F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29CB1C5-40E9-45C4-9C97-23E895C867A5}"/>
              </a:ext>
            </a:extLst>
          </p:cNvPr>
          <p:cNvSpPr/>
          <p:nvPr/>
        </p:nvSpPr>
        <p:spPr>
          <a:xfrm>
            <a:off x="841248" y="2286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registration</a:t>
            </a:r>
            <a:endParaRPr lang="en-US" sz="10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6643218-A57E-4BF6-B10A-0A18D7474367}"/>
              </a:ext>
            </a:extLst>
          </p:cNvPr>
          <p:cNvSpPr/>
          <p:nvPr/>
        </p:nvSpPr>
        <p:spPr>
          <a:xfrm>
            <a:off x="713232" y="3118104"/>
            <a:ext cx="82296" cy="82296"/>
          </a:xfrm>
          <a:prstGeom prst="ellipse">
            <a:avLst/>
          </a:prstGeom>
          <a:solidFill>
            <a:srgbClr val="B5541F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2B8900A-12F2-4B44-9B5A-6130384369BD}"/>
              </a:ext>
            </a:extLst>
          </p:cNvPr>
          <p:cNvSpPr/>
          <p:nvPr/>
        </p:nvSpPr>
        <p:spPr>
          <a:xfrm>
            <a:off x="841248" y="3063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control &amp; alerts</a:t>
            </a:r>
            <a:endParaRPr lang="en-US" sz="10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2A71BFD-F30C-4045-B060-39D8686B8E55}"/>
              </a:ext>
            </a:extLst>
          </p:cNvPr>
          <p:cNvSpPr/>
          <p:nvPr/>
        </p:nvSpPr>
        <p:spPr>
          <a:xfrm>
            <a:off x="713232" y="3895344"/>
            <a:ext cx="82296" cy="82296"/>
          </a:xfrm>
          <a:prstGeom prst="ellipse">
            <a:avLst/>
          </a:prstGeom>
          <a:solidFill>
            <a:srgbClr val="B5541F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8F30EE6-57D4-459E-9D3B-44D619898EE5}"/>
              </a:ext>
            </a:extLst>
          </p:cNvPr>
          <p:cNvSpPr/>
          <p:nvPr/>
        </p:nvSpPr>
        <p:spPr>
          <a:xfrm>
            <a:off x="841248" y="3840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&amp; shrink log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96A805D-B9DF-4F41-A46E-835EC0AB6660}"/>
              </a:ext>
            </a:extLst>
          </p:cNvPr>
          <p:cNvSpPr/>
          <p:nvPr/>
        </p:nvSpPr>
        <p:spPr>
          <a:xfrm>
            <a:off x="2816352" y="1554480"/>
            <a:ext cx="210312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6510">
            <a:solidFill>
              <a:srgbClr val="D69A2D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98E9BE4-C94F-49C5-97B7-44324204E1B6}"/>
              </a:ext>
            </a:extLst>
          </p:cNvPr>
          <p:cNvSpPr/>
          <p:nvPr/>
        </p:nvSpPr>
        <p:spPr>
          <a:xfrm>
            <a:off x="2816352" y="15544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D69A2D"/>
          </a:solidFill>
          <a:ln/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89DB2F8-5595-4E45-8066-8D62A8ABC09D}"/>
              </a:ext>
            </a:extLst>
          </p:cNvPr>
          <p:cNvSpPr/>
          <p:nvPr/>
        </p:nvSpPr>
        <p:spPr>
          <a:xfrm>
            <a:off x="2816352" y="1810512"/>
            <a:ext cx="2103120" cy="246888"/>
          </a:xfrm>
          <a:prstGeom prst="rect">
            <a:avLst/>
          </a:prstGeom>
          <a:solidFill>
            <a:srgbClr val="D69A2D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9450CB2-7D81-40CB-9F90-46356C182A17}"/>
              </a:ext>
            </a:extLst>
          </p:cNvPr>
          <p:cNvSpPr/>
          <p:nvPr/>
        </p:nvSpPr>
        <p:spPr>
          <a:xfrm>
            <a:off x="2926080" y="155448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Sales</a:t>
            </a:r>
            <a:endParaRPr lang="en-US" sz="11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35F6F8C-A9C7-4A2B-B096-6E80E44D4CE5}"/>
              </a:ext>
            </a:extLst>
          </p:cNvPr>
          <p:cNvSpPr/>
          <p:nvPr/>
        </p:nvSpPr>
        <p:spPr>
          <a:xfrm>
            <a:off x="2980944" y="2340864"/>
            <a:ext cx="82296" cy="82296"/>
          </a:xfrm>
          <a:prstGeom prst="ellipse">
            <a:avLst/>
          </a:prstGeom>
          <a:solidFill>
            <a:srgbClr val="D69A2D"/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BF30F5A-AF06-40C0-B2DC-65B639F4EA75}"/>
              </a:ext>
            </a:extLst>
          </p:cNvPr>
          <p:cNvSpPr/>
          <p:nvPr/>
        </p:nvSpPr>
        <p:spPr>
          <a:xfrm>
            <a:off x="3108960" y="2286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/ bulk sale</a:t>
            </a:r>
            <a:endParaRPr lang="en-US" sz="10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D262A41-E743-4EAD-B55C-3CF55F4A1AA3}"/>
              </a:ext>
            </a:extLst>
          </p:cNvPr>
          <p:cNvSpPr/>
          <p:nvPr/>
        </p:nvSpPr>
        <p:spPr>
          <a:xfrm>
            <a:off x="2980944" y="3118104"/>
            <a:ext cx="82296" cy="82296"/>
          </a:xfrm>
          <a:prstGeom prst="ellipse">
            <a:avLst/>
          </a:prstGeom>
          <a:solidFill>
            <a:srgbClr val="D69A2D"/>
          </a:solidFill>
          <a:ln/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F4E081C-FDBE-4122-8191-E0034AA7F803}"/>
              </a:ext>
            </a:extLst>
          </p:cNvPr>
          <p:cNvSpPr/>
          <p:nvPr/>
        </p:nvSpPr>
        <p:spPr>
          <a:xfrm>
            <a:off x="3108960" y="3063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receipts</a:t>
            </a:r>
            <a:endParaRPr lang="en-US" sz="10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CAC86EC-1D6D-45E6-ABF9-9C5B5E4B4EA3}"/>
              </a:ext>
            </a:extLst>
          </p:cNvPr>
          <p:cNvSpPr/>
          <p:nvPr/>
        </p:nvSpPr>
        <p:spPr>
          <a:xfrm>
            <a:off x="2980944" y="3895344"/>
            <a:ext cx="82296" cy="82296"/>
          </a:xfrm>
          <a:prstGeom prst="ellipse">
            <a:avLst/>
          </a:prstGeom>
          <a:solidFill>
            <a:srgbClr val="D69A2D"/>
          </a:solidFill>
          <a:ln/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0063EA1-8D4D-4C55-9EF5-1545E0F4ACC4}"/>
              </a:ext>
            </a:extLst>
          </p:cNvPr>
          <p:cNvSpPr/>
          <p:nvPr/>
        </p:nvSpPr>
        <p:spPr>
          <a:xfrm>
            <a:off x="3108960" y="3840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or credit payment</a:t>
            </a:r>
            <a:endParaRPr lang="en-US" sz="10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654C66E-0321-48A5-9DFA-5A9D7F27252B}"/>
              </a:ext>
            </a:extLst>
          </p:cNvPr>
          <p:cNvSpPr/>
          <p:nvPr/>
        </p:nvSpPr>
        <p:spPr>
          <a:xfrm>
            <a:off x="5084064" y="1554480"/>
            <a:ext cx="210312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6510">
            <a:solidFill>
              <a:srgbClr val="6B7A3A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344A7B0-8FD3-4297-A50E-D077C09CEFB3}"/>
              </a:ext>
            </a:extLst>
          </p:cNvPr>
          <p:cNvSpPr/>
          <p:nvPr/>
        </p:nvSpPr>
        <p:spPr>
          <a:xfrm>
            <a:off x="5084064" y="15544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6B7A3A"/>
          </a:solidFill>
          <a:ln/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CD24ADB-E815-4CA2-B366-40CC88F36891}"/>
              </a:ext>
            </a:extLst>
          </p:cNvPr>
          <p:cNvSpPr/>
          <p:nvPr/>
        </p:nvSpPr>
        <p:spPr>
          <a:xfrm>
            <a:off x="5084064" y="1810512"/>
            <a:ext cx="2103120" cy="246888"/>
          </a:xfrm>
          <a:prstGeom prst="rect">
            <a:avLst/>
          </a:prstGeom>
          <a:solidFill>
            <a:srgbClr val="6B7A3A"/>
          </a:solidFill>
          <a:ln/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F4240A4-A872-458C-997B-284727C73471}"/>
              </a:ext>
            </a:extLst>
          </p:cNvPr>
          <p:cNvSpPr/>
          <p:nvPr/>
        </p:nvSpPr>
        <p:spPr>
          <a:xfrm>
            <a:off x="5193792" y="155448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Suppliers</a:t>
            </a:r>
            <a:endParaRPr lang="en-US" sz="115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4927A20A-248D-4C33-BF2F-AC6031788CB4}"/>
              </a:ext>
            </a:extLst>
          </p:cNvPr>
          <p:cNvSpPr/>
          <p:nvPr/>
        </p:nvSpPr>
        <p:spPr>
          <a:xfrm>
            <a:off x="5248656" y="2340864"/>
            <a:ext cx="82296" cy="82296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0109E35-D7EF-4376-AF2E-2174B9499E22}"/>
              </a:ext>
            </a:extLst>
          </p:cNvPr>
          <p:cNvSpPr/>
          <p:nvPr/>
        </p:nvSpPr>
        <p:spPr>
          <a:xfrm>
            <a:off x="5376672" y="2286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registration</a:t>
            </a:r>
            <a:endParaRPr lang="en-US" sz="105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7082D99-E183-4AA4-9E6F-AB29ACD2B540}"/>
              </a:ext>
            </a:extLst>
          </p:cNvPr>
          <p:cNvSpPr/>
          <p:nvPr/>
        </p:nvSpPr>
        <p:spPr>
          <a:xfrm>
            <a:off x="5248656" y="3118104"/>
            <a:ext cx="82296" cy="82296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0E4C0DB5-40CD-4140-B93E-D47D45EAF430}"/>
              </a:ext>
            </a:extLst>
          </p:cNvPr>
          <p:cNvSpPr/>
          <p:nvPr/>
        </p:nvSpPr>
        <p:spPr>
          <a:xfrm>
            <a:off x="5376672" y="3063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</a:t>
            </a:r>
            <a:endParaRPr lang="en-US" sz="10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5F4A0867-50F7-4F5D-8EF7-5A24AC829D9C}"/>
              </a:ext>
            </a:extLst>
          </p:cNvPr>
          <p:cNvSpPr/>
          <p:nvPr/>
        </p:nvSpPr>
        <p:spPr>
          <a:xfrm>
            <a:off x="5248656" y="3895344"/>
            <a:ext cx="82296" cy="82296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53F9BDB-73A8-497B-A033-D2A9F0B8D106}"/>
              </a:ext>
            </a:extLst>
          </p:cNvPr>
          <p:cNvSpPr/>
          <p:nvPr/>
        </p:nvSpPr>
        <p:spPr>
          <a:xfrm>
            <a:off x="5376672" y="3840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history</a:t>
            </a:r>
            <a:endParaRPr lang="en-US" sz="105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481C12DA-11F7-4A00-9940-839350173441}"/>
              </a:ext>
            </a:extLst>
          </p:cNvPr>
          <p:cNvSpPr/>
          <p:nvPr/>
        </p:nvSpPr>
        <p:spPr>
          <a:xfrm>
            <a:off x="7351776" y="1554480"/>
            <a:ext cx="210312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6510">
            <a:solidFill>
              <a:srgbClr val="B5541F"/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BDD9334D-576D-4086-84B6-8057292DAA6F}"/>
              </a:ext>
            </a:extLst>
          </p:cNvPr>
          <p:cNvSpPr/>
          <p:nvPr/>
        </p:nvSpPr>
        <p:spPr>
          <a:xfrm>
            <a:off x="7351776" y="15544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B5541F"/>
          </a:solidFill>
          <a:ln/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FD815668-DD92-4C4C-BE65-BD0C8062223D}"/>
              </a:ext>
            </a:extLst>
          </p:cNvPr>
          <p:cNvSpPr/>
          <p:nvPr/>
        </p:nvSpPr>
        <p:spPr>
          <a:xfrm>
            <a:off x="7351776" y="1810512"/>
            <a:ext cx="2103120" cy="246888"/>
          </a:xfrm>
          <a:prstGeom prst="rect">
            <a:avLst/>
          </a:prstGeom>
          <a:solidFill>
            <a:srgbClr val="B5541F"/>
          </a:solidFill>
          <a:ln/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F45DC11E-8579-468B-A91A-524D9DC5FFC7}"/>
              </a:ext>
            </a:extLst>
          </p:cNvPr>
          <p:cNvSpPr/>
          <p:nvPr/>
        </p:nvSpPr>
        <p:spPr>
          <a:xfrm>
            <a:off x="7461504" y="155448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Customers &amp; credit</a:t>
            </a:r>
            <a:endParaRPr lang="en-US" sz="115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00E88FFD-BCEF-4729-9579-B37B7B2C011E}"/>
              </a:ext>
            </a:extLst>
          </p:cNvPr>
          <p:cNvSpPr/>
          <p:nvPr/>
        </p:nvSpPr>
        <p:spPr>
          <a:xfrm>
            <a:off x="7516368" y="2340864"/>
            <a:ext cx="82296" cy="82296"/>
          </a:xfrm>
          <a:prstGeom prst="ellipse">
            <a:avLst/>
          </a:prstGeom>
          <a:solidFill>
            <a:srgbClr val="B5541F"/>
          </a:solidFill>
          <a:ln/>
        </p:spPr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C0D24672-8849-4B14-854B-E66539B8AB92}"/>
              </a:ext>
            </a:extLst>
          </p:cNvPr>
          <p:cNvSpPr/>
          <p:nvPr/>
        </p:nvSpPr>
        <p:spPr>
          <a:xfrm>
            <a:off x="7644384" y="2286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registration</a:t>
            </a:r>
            <a:endParaRPr lang="en-US" sz="10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8C2451F3-B7F9-4FE8-9CF5-94D6EDDC138C}"/>
              </a:ext>
            </a:extLst>
          </p:cNvPr>
          <p:cNvSpPr/>
          <p:nvPr/>
        </p:nvSpPr>
        <p:spPr>
          <a:xfrm>
            <a:off x="7516368" y="3118104"/>
            <a:ext cx="82296" cy="82296"/>
          </a:xfrm>
          <a:prstGeom prst="ellipse">
            <a:avLst/>
          </a:prstGeom>
          <a:solidFill>
            <a:srgbClr val="B5541F"/>
          </a:solidFill>
          <a:ln/>
        </p:spPr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7B633F9B-BEC0-4117-9D7F-760366CCFFCF}"/>
              </a:ext>
            </a:extLst>
          </p:cNvPr>
          <p:cNvSpPr/>
          <p:nvPr/>
        </p:nvSpPr>
        <p:spPr>
          <a:xfrm>
            <a:off x="7644384" y="3063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“Fiado” balance control</a:t>
            </a:r>
            <a:endParaRPr lang="en-US" sz="105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1ED071D5-C406-41CF-B8AD-A24E62F7B896}"/>
              </a:ext>
            </a:extLst>
          </p:cNvPr>
          <p:cNvSpPr/>
          <p:nvPr/>
        </p:nvSpPr>
        <p:spPr>
          <a:xfrm>
            <a:off x="7516368" y="3895344"/>
            <a:ext cx="82296" cy="82296"/>
          </a:xfrm>
          <a:prstGeom prst="ellipse">
            <a:avLst/>
          </a:prstGeom>
          <a:solidFill>
            <a:srgbClr val="B5541F"/>
          </a:solidFill>
          <a:ln/>
        </p:spPr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53519424-4E52-4D31-BEA8-DEC176A76E68}"/>
              </a:ext>
            </a:extLst>
          </p:cNvPr>
          <p:cNvSpPr/>
          <p:nvPr/>
        </p:nvSpPr>
        <p:spPr>
          <a:xfrm>
            <a:off x="7644384" y="3840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reminders</a:t>
            </a:r>
            <a:endParaRPr lang="en-US" sz="105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A0D17A99-2395-4418-AFE9-7E20EF5B9E4C}"/>
              </a:ext>
            </a:extLst>
          </p:cNvPr>
          <p:cNvSpPr/>
          <p:nvPr/>
        </p:nvSpPr>
        <p:spPr>
          <a:xfrm>
            <a:off x="9619488" y="1554480"/>
            <a:ext cx="210312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6510">
            <a:solidFill>
              <a:srgbClr val="D69A2D"/>
            </a:solidFill>
            <a:prstDash val="solid"/>
          </a:ln>
        </p:spPr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303524BD-883E-4E15-AA5C-25CA4609768F}"/>
              </a:ext>
            </a:extLst>
          </p:cNvPr>
          <p:cNvSpPr/>
          <p:nvPr/>
        </p:nvSpPr>
        <p:spPr>
          <a:xfrm>
            <a:off x="9619488" y="15544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D69A2D"/>
          </a:solidFill>
          <a:ln/>
        </p:spPr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DC2B6DCE-29DF-4CCC-BF0B-E76C5DD04E49}"/>
              </a:ext>
            </a:extLst>
          </p:cNvPr>
          <p:cNvSpPr/>
          <p:nvPr/>
        </p:nvSpPr>
        <p:spPr>
          <a:xfrm>
            <a:off x="9619488" y="1810512"/>
            <a:ext cx="2103120" cy="246888"/>
          </a:xfrm>
          <a:prstGeom prst="rect">
            <a:avLst/>
          </a:prstGeom>
          <a:solidFill>
            <a:srgbClr val="D69A2D"/>
          </a:solidFill>
          <a:ln/>
        </p:spPr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45EF3712-75A4-41FD-AAF6-F7F7B55FD640}"/>
              </a:ext>
            </a:extLst>
          </p:cNvPr>
          <p:cNvSpPr/>
          <p:nvPr/>
        </p:nvSpPr>
        <p:spPr>
          <a:xfrm>
            <a:off x="9729216" y="155448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Reports</a:t>
            </a:r>
            <a:endParaRPr lang="en-US" sz="115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A5723FAE-E1C1-4FD3-A77A-D729845F8879}"/>
              </a:ext>
            </a:extLst>
          </p:cNvPr>
          <p:cNvSpPr/>
          <p:nvPr/>
        </p:nvSpPr>
        <p:spPr>
          <a:xfrm>
            <a:off x="9784080" y="2340864"/>
            <a:ext cx="82296" cy="82296"/>
          </a:xfrm>
          <a:prstGeom prst="ellipse">
            <a:avLst/>
          </a:prstGeom>
          <a:solidFill>
            <a:srgbClr val="D69A2D"/>
          </a:solidFill>
          <a:ln/>
        </p:spPr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5EDB7EAF-C798-443C-9719-E341DAB2DE19}"/>
              </a:ext>
            </a:extLst>
          </p:cNvPr>
          <p:cNvSpPr/>
          <p:nvPr/>
        </p:nvSpPr>
        <p:spPr>
          <a:xfrm>
            <a:off x="9912096" y="2286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sellers</a:t>
            </a:r>
            <a:endParaRPr lang="en-US" sz="105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C71851F5-6C1B-459A-883C-B38FACF2BB6A}"/>
              </a:ext>
            </a:extLst>
          </p:cNvPr>
          <p:cNvSpPr/>
          <p:nvPr/>
        </p:nvSpPr>
        <p:spPr>
          <a:xfrm>
            <a:off x="9784080" y="3118104"/>
            <a:ext cx="82296" cy="82296"/>
          </a:xfrm>
          <a:prstGeom prst="ellipse">
            <a:avLst/>
          </a:prstGeom>
          <a:solidFill>
            <a:srgbClr val="D69A2D"/>
          </a:solidFill>
          <a:ln/>
        </p:spPr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7ECF1CE5-0FFF-4993-886A-7315343B90ED}"/>
              </a:ext>
            </a:extLst>
          </p:cNvPr>
          <p:cNvSpPr/>
          <p:nvPr/>
        </p:nvSpPr>
        <p:spPr>
          <a:xfrm>
            <a:off x="9912096" y="3063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</a:t>
            </a:r>
            <a:endParaRPr lang="en-US" sz="105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42E1334D-6088-4BF5-B80E-DE676055CC05}"/>
              </a:ext>
            </a:extLst>
          </p:cNvPr>
          <p:cNvSpPr/>
          <p:nvPr/>
        </p:nvSpPr>
        <p:spPr>
          <a:xfrm>
            <a:off x="9784080" y="3895344"/>
            <a:ext cx="82296" cy="82296"/>
          </a:xfrm>
          <a:prstGeom prst="ellipse">
            <a:avLst/>
          </a:prstGeom>
          <a:solidFill>
            <a:srgbClr val="D69A2D"/>
          </a:solidFill>
          <a:ln/>
        </p:spPr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7A2E4EF6-12D7-480A-8780-0C41E476DA74}"/>
              </a:ext>
            </a:extLst>
          </p:cNvPr>
          <p:cNvSpPr/>
          <p:nvPr/>
        </p:nvSpPr>
        <p:spPr>
          <a:xfrm>
            <a:off x="9912096" y="3840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credit</a:t>
            </a:r>
            <a:endParaRPr lang="en-US" sz="1050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EC86244C-A323-4160-B097-5041FCDF63E3}"/>
              </a:ext>
            </a:extLst>
          </p:cNvPr>
          <p:cNvSpPr/>
          <p:nvPr/>
        </p:nvSpPr>
        <p:spPr>
          <a:xfrm>
            <a:off x="36576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COSTALITO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54536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B0697D-058D-4332-8939-0D5930951249}"/>
              </a:ext>
            </a:extLst>
          </p:cNvPr>
          <p:cNvSpPr/>
          <p:nvPr/>
        </p:nvSpPr>
        <p:spPr>
          <a:xfrm>
            <a:off x="548640" y="3200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55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Non-functional requirements, scope &amp; technologies</a:t>
            </a:r>
            <a:endParaRPr lang="en-US" sz="2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4675449-DF93-40E5-93D5-46FB98077562}"/>
              </a:ext>
            </a:extLst>
          </p:cNvPr>
          <p:cNvSpPr/>
          <p:nvPr/>
        </p:nvSpPr>
        <p:spPr>
          <a:xfrm>
            <a:off x="548640" y="1005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non-functional requirements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D67B704-0156-46D4-8461-67EA5A14AEAC}"/>
              </a:ext>
            </a:extLst>
          </p:cNvPr>
          <p:cNvSpPr/>
          <p:nvPr/>
        </p:nvSpPr>
        <p:spPr>
          <a:xfrm>
            <a:off x="548640" y="1426464"/>
            <a:ext cx="100584" cy="100584"/>
          </a:xfrm>
          <a:prstGeom prst="ellipse">
            <a:avLst/>
          </a:prstGeom>
          <a:solidFill>
            <a:srgbClr val="D69A2D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53E3AD2-796A-4D0D-864F-FDB350214AA3}"/>
              </a:ext>
            </a:extLst>
          </p:cNvPr>
          <p:cNvSpPr/>
          <p:nvPr/>
        </p:nvSpPr>
        <p:spPr>
          <a:xfrm>
            <a:off x="777240" y="1371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2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51059A2-ED9B-422D-AC74-D639141A26C1}"/>
              </a:ext>
            </a:extLst>
          </p:cNvPr>
          <p:cNvSpPr/>
          <p:nvPr/>
        </p:nvSpPr>
        <p:spPr>
          <a:xfrm>
            <a:off x="548640" y="1810512"/>
            <a:ext cx="100584" cy="100584"/>
          </a:xfrm>
          <a:prstGeom prst="ellipse">
            <a:avLst/>
          </a:prstGeom>
          <a:solidFill>
            <a:srgbClr val="D69A2D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8E1E9A0-84A5-4824-96D7-3B2134385B85}"/>
              </a:ext>
            </a:extLst>
          </p:cNvPr>
          <p:cNvSpPr/>
          <p:nvPr/>
        </p:nvSpPr>
        <p:spPr>
          <a:xfrm>
            <a:off x="777240" y="175564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0AF071F-440E-4FAB-A413-A124794C7693}"/>
              </a:ext>
            </a:extLst>
          </p:cNvPr>
          <p:cNvSpPr/>
          <p:nvPr/>
        </p:nvSpPr>
        <p:spPr>
          <a:xfrm>
            <a:off x="548640" y="2194560"/>
            <a:ext cx="100584" cy="100584"/>
          </a:xfrm>
          <a:prstGeom prst="ellipse">
            <a:avLst/>
          </a:prstGeom>
          <a:solidFill>
            <a:srgbClr val="D69A2D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6B57B2A-7269-4E00-9CEC-F8E289A5ECB0}"/>
              </a:ext>
            </a:extLst>
          </p:cNvPr>
          <p:cNvSpPr/>
          <p:nvPr/>
        </p:nvSpPr>
        <p:spPr>
          <a:xfrm>
            <a:off x="777240" y="213969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2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ECF432F-0455-4DEF-990A-42CD4BFF1F28}"/>
              </a:ext>
            </a:extLst>
          </p:cNvPr>
          <p:cNvSpPr/>
          <p:nvPr/>
        </p:nvSpPr>
        <p:spPr>
          <a:xfrm>
            <a:off x="548640" y="2578608"/>
            <a:ext cx="100584" cy="100584"/>
          </a:xfrm>
          <a:prstGeom prst="ellipse">
            <a:avLst/>
          </a:prstGeom>
          <a:solidFill>
            <a:srgbClr val="D69A2D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EBF6A80-5B6B-46F1-ACAA-D8A48BB5A7F8}"/>
              </a:ext>
            </a:extLst>
          </p:cNvPr>
          <p:cNvSpPr/>
          <p:nvPr/>
        </p:nvSpPr>
        <p:spPr>
          <a:xfrm>
            <a:off x="777240" y="252374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5337DFC-62DF-4D21-ABB0-B40D7EF28AC8}"/>
              </a:ext>
            </a:extLst>
          </p:cNvPr>
          <p:cNvSpPr/>
          <p:nvPr/>
        </p:nvSpPr>
        <p:spPr>
          <a:xfrm>
            <a:off x="548640" y="2962656"/>
            <a:ext cx="100584" cy="100584"/>
          </a:xfrm>
          <a:prstGeom prst="ellipse">
            <a:avLst/>
          </a:prstGeom>
          <a:solidFill>
            <a:srgbClr val="D69A2D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7353C7C-5A1F-4BA5-B6F0-6D109E485BB9}"/>
              </a:ext>
            </a:extLst>
          </p:cNvPr>
          <p:cNvSpPr/>
          <p:nvPr/>
        </p:nvSpPr>
        <p:spPr>
          <a:xfrm>
            <a:off x="777240" y="29077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134B199-60A8-4AD6-9F24-C318F3236D2D}"/>
              </a:ext>
            </a:extLst>
          </p:cNvPr>
          <p:cNvSpPr/>
          <p:nvPr/>
        </p:nvSpPr>
        <p:spPr>
          <a:xfrm>
            <a:off x="548640" y="3346704"/>
            <a:ext cx="100584" cy="100584"/>
          </a:xfrm>
          <a:prstGeom prst="ellipse">
            <a:avLst/>
          </a:prstGeom>
          <a:solidFill>
            <a:srgbClr val="D69A2D"/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0AEA8B4-F478-45BF-BBA7-2678A263FFEA}"/>
              </a:ext>
            </a:extLst>
          </p:cNvPr>
          <p:cNvSpPr/>
          <p:nvPr/>
        </p:nvSpPr>
        <p:spPr>
          <a:xfrm>
            <a:off x="777240" y="32918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with entry-level devices</a:t>
            </a:r>
            <a:endParaRPr lang="en-US" sz="12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BEAA1E7-F32F-4DCE-BD16-7C30473E7B93}"/>
              </a:ext>
            </a:extLst>
          </p:cNvPr>
          <p:cNvSpPr/>
          <p:nvPr/>
        </p:nvSpPr>
        <p:spPr>
          <a:xfrm>
            <a:off x="548640" y="39776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(triple constraint)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5FF8B94-EC7F-4688-B3CE-20D96F6127D0}"/>
              </a:ext>
            </a:extLst>
          </p:cNvPr>
          <p:cNvSpPr/>
          <p:nvPr/>
        </p:nvSpPr>
        <p:spPr>
          <a:xfrm>
            <a:off x="548640" y="4343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</a:t>
            </a:r>
            <a:endParaRPr lang="en-US" sz="11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D7E296D-D192-4FA9-BF6F-01C995E258B5}"/>
              </a:ext>
            </a:extLst>
          </p:cNvPr>
          <p:cNvSpPr/>
          <p:nvPr/>
        </p:nvSpPr>
        <p:spPr>
          <a:xfrm>
            <a:off x="1737360" y="43434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sales, suppliers, customers/credit, and basic reports</a:t>
            </a:r>
            <a:endParaRPr lang="en-US" sz="11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2030EBE-AC44-4006-A7DE-27BB8DA8B4B9}"/>
              </a:ext>
            </a:extLst>
          </p:cNvPr>
          <p:cNvSpPr/>
          <p:nvPr/>
        </p:nvSpPr>
        <p:spPr>
          <a:xfrm>
            <a:off x="548640" y="4846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</a:t>
            </a:r>
            <a:endParaRPr lang="en-US" sz="11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42293AF-0432-46E0-B69B-6051A03960ED}"/>
              </a:ext>
            </a:extLst>
          </p:cNvPr>
          <p:cNvSpPr/>
          <p:nvPr/>
        </p:nvSpPr>
        <p:spPr>
          <a:xfrm>
            <a:off x="1737360" y="484632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the academic semester, ~16 weeks</a:t>
            </a:r>
            <a:endParaRPr lang="en-US" sz="11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4E9BF37-7DC2-4C11-A113-5CD169F45353}"/>
              </a:ext>
            </a:extLst>
          </p:cNvPr>
          <p:cNvSpPr/>
          <p:nvPr/>
        </p:nvSpPr>
        <p:spPr>
          <a:xfrm>
            <a:off x="548640" y="53492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</a:t>
            </a:r>
            <a:endParaRPr lang="en-US" sz="11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1CC7AE5-6052-4A2F-98FF-B899395DD2CE}"/>
              </a:ext>
            </a:extLst>
          </p:cNvPr>
          <p:cNvSpPr/>
          <p:nvPr/>
        </p:nvSpPr>
        <p:spPr>
          <a:xfrm>
            <a:off x="1737360" y="53492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 — free / open-source tools only</a:t>
            </a:r>
            <a:endParaRPr lang="en-US" sz="11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AD562DA-F7A0-4C44-A9A4-FC0E08D91047}"/>
              </a:ext>
            </a:extLst>
          </p:cNvPr>
          <p:cNvSpPr/>
          <p:nvPr/>
        </p:nvSpPr>
        <p:spPr>
          <a:xfrm>
            <a:off x="6309360" y="1005840"/>
            <a:ext cx="5303520" cy="4754880"/>
          </a:xfrm>
          <a:prstGeom prst="roundRect">
            <a:avLst>
              <a:gd name="adj" fmla="val 1923"/>
            </a:avLst>
          </a:prstGeom>
          <a:solidFill>
            <a:srgbClr val="F4ECD8"/>
          </a:solidFill>
          <a:ln/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AD2A99B-3522-4242-AA81-97919C7D862A}"/>
              </a:ext>
            </a:extLst>
          </p:cNvPr>
          <p:cNvSpPr/>
          <p:nvPr/>
        </p:nvSpPr>
        <p:spPr>
          <a:xfrm>
            <a:off x="667512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55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Selected technologies</a:t>
            </a:r>
            <a:endParaRPr lang="en-US" sz="16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E53223D-9265-4F4B-8588-D09182F14BC3}"/>
              </a:ext>
            </a:extLst>
          </p:cNvPr>
          <p:cNvSpPr/>
          <p:nvPr/>
        </p:nvSpPr>
        <p:spPr>
          <a:xfrm>
            <a:off x="667512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</a:t>
            </a:r>
            <a:endParaRPr lang="en-US" sz="13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FAFFEFC-E894-43B6-8530-B4293E9A4311}"/>
              </a:ext>
            </a:extLst>
          </p:cNvPr>
          <p:cNvSpPr/>
          <p:nvPr/>
        </p:nvSpPr>
        <p:spPr>
          <a:xfrm>
            <a:off x="6675120" y="2148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modeling of the system's structural views</a:t>
            </a: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BDC36C9-714A-4613-B784-1B009DF24403}"/>
              </a:ext>
            </a:extLst>
          </p:cNvPr>
          <p:cNvSpPr/>
          <p:nvPr/>
        </p:nvSpPr>
        <p:spPr>
          <a:xfrm>
            <a:off x="667512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</a:t>
            </a:r>
            <a:endParaRPr lang="en-US" sz="13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9EFB080-4781-4AAC-BFE4-38D6EA2C4528}"/>
              </a:ext>
            </a:extLst>
          </p:cNvPr>
          <p:cNvSpPr/>
          <p:nvPr/>
        </p:nvSpPr>
        <p:spPr>
          <a:xfrm>
            <a:off x="6675120" y="31089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 for implementation</a:t>
            </a:r>
            <a:endParaRPr lang="en-US" sz="12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9C52C3E-E00A-4D9D-B2BA-0FAAD142B3E1}"/>
              </a:ext>
            </a:extLst>
          </p:cNvPr>
          <p:cNvSpPr/>
          <p:nvPr/>
        </p:nvSpPr>
        <p:spPr>
          <a:xfrm>
            <a:off x="667512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GitHub Pages</a:t>
            </a:r>
            <a:endParaRPr lang="en-US" sz="135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A2E2370-7389-44BC-92C8-FD6C1AB96DC0}"/>
              </a:ext>
            </a:extLst>
          </p:cNvPr>
          <p:cNvSpPr/>
          <p:nvPr/>
        </p:nvSpPr>
        <p:spPr>
          <a:xfrm>
            <a:off x="6675120" y="40690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control, collaboration and documentation site</a:t>
            </a:r>
            <a:endParaRPr lang="en-US" sz="12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69E2F03-2E0F-4E7C-A65E-A4E7B967BD84}"/>
              </a:ext>
            </a:extLst>
          </p:cNvPr>
          <p:cNvSpPr/>
          <p:nvPr/>
        </p:nvSpPr>
        <p:spPr>
          <a:xfrm>
            <a:off x="36576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COSTALITO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45721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4CD3EAB1-8F54-4525-957F-AC7929535C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5541F"/>
          </a:solidFill>
          <a:ln/>
        </p:spPr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9D0E07A9-0D05-40D5-94A4-DEE680A16E46}"/>
              </a:ext>
            </a:extLst>
          </p:cNvPr>
          <p:cNvSpPr/>
          <p:nvPr/>
        </p:nvSpPr>
        <p:spPr>
          <a:xfrm>
            <a:off x="73152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5C217D08-2DEE-4509-839B-0F738599D47A}"/>
              </a:ext>
            </a:extLst>
          </p:cNvPr>
          <p:cNvSpPr/>
          <p:nvPr/>
        </p:nvSpPr>
        <p:spPr>
          <a:xfrm>
            <a:off x="731520" y="3291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4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COSTALITO — bringing simple, accessible digital tools to a family granero in Tumaco.</a:t>
            </a:r>
            <a:endParaRPr lang="en-US" sz="17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2300BEF-856E-4F9B-9056-2B39FC6E1AC4}"/>
              </a:ext>
            </a:extLst>
          </p:cNvPr>
          <p:cNvSpPr/>
          <p:nvPr/>
        </p:nvSpPr>
        <p:spPr>
          <a:xfrm>
            <a:off x="731520" y="5669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Alejandro Celis · Sebastián Cabanzo · Jhunior Estiven Delgado</a:t>
            </a:r>
            <a:endParaRPr lang="en-US" sz="14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8BC76FC9-FAE6-438B-B339-E6C2244A7C7E}"/>
              </a:ext>
            </a:extLst>
          </p:cNvPr>
          <p:cNvSpPr/>
          <p:nvPr/>
        </p:nvSpPr>
        <p:spPr>
          <a:xfrm>
            <a:off x="731520" y="6080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101A0F9B-F31E-4D34-BB2C-08397FAF0146}"/>
              </a:ext>
            </a:extLst>
          </p:cNvPr>
          <p:cNvSpPr/>
          <p:nvPr/>
        </p:nvSpPr>
        <p:spPr>
          <a:xfrm>
            <a:off x="9906000" y="5669280"/>
            <a:ext cx="1554480" cy="1554480"/>
          </a:xfrm>
          <a:prstGeom prst="ellipse">
            <a:avLst/>
          </a:prstGeom>
          <a:solidFill>
            <a:srgbClr val="D69A2D"/>
          </a:solidFill>
          <a:ln/>
        </p:spPr>
      </p:sp>
    </p:spTree>
    <p:extLst>
      <p:ext uri="{BB962C8B-B14F-4D97-AF65-F5344CB8AC3E}">
        <p14:creationId xmlns:p14="http://schemas.microsoft.com/office/powerpoint/2010/main" val="4064017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62100" y="3067050"/>
            <a:ext cx="90678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62100" y="3829050"/>
            <a:ext cx="9067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562100" y="3829050"/>
            <a:ext cx="9067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00" y="320992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57475" y="3217068"/>
            <a:ext cx="79724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Lato"/>
              </a:rPr>
              <a:t>https://theinventorymaster.com/wp-content/uploads/2025/05/u6.jpg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7475" y="3450431"/>
            <a:ext cx="79724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ato"/>
              </a:rPr>
              <a:t>theinventorymaster.com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100" y="398145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57475" y="3988593"/>
            <a:ext cx="79724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Lato"/>
              </a:rPr>
              <a:t>https://www.poszeo.com/wp-content/uploads/2026/03/Cash-Register-and-POS-Which-Checkout-System-Fits-Your-Business-5-1300x743.webp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7475" y="4221956"/>
            <a:ext cx="79724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ato"/>
              </a:rPr>
              <a:t>www.poszeo.com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oppins SemiBold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1101</Words>
  <Application>Microsoft Office PowerPoint</Application>
  <PresentationFormat>Panorámica</PresentationFormat>
  <Paragraphs>176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Arial</vt:lpstr>
      <vt:lpstr>Calibri</vt:lpstr>
      <vt:lpstr>Georgia</vt:lpstr>
      <vt:lpstr>Lato</vt:lpstr>
      <vt:lpstr>Poppins</vt:lpstr>
      <vt:lpstr>Poppins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Mery</dc:creator>
  <cp:keywords/>
  <dc:description>generated using python-pptx</dc:description>
  <cp:lastModifiedBy>Sebastian Lopez Cabanzo</cp:lastModifiedBy>
  <cp:revision>3</cp:revision>
  <dcterms:created xsi:type="dcterms:W3CDTF">2013-01-27T09:14:16Z</dcterms:created>
  <dcterms:modified xsi:type="dcterms:W3CDTF">2026-08-04T03:45:51Z</dcterms:modified>
  <cp:category/>
</cp:coreProperties>
</file>